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SfpKhX2rKH9Zad9mcrHnh26YA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927907-2FF1-45FC-82A2-9DE062C96DA4}">
  <a:tblStyle styleId="{AD927907-2FF1-45FC-82A2-9DE062C96DA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hyperlink" Target="http://drive.google.com/file/d/196Qp0_e5KjyNHuEX7x7ppIetDIB9p40g/view" TargetMode="External"/><Relationship Id="rId5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FM SERVICIOS</a:t>
            </a:r>
            <a:r>
              <a:rPr b="1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1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244950" y="2545730"/>
            <a:ext cx="7668608" cy="4312268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José Bello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 - Scrum Master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Luis Pérez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Developer/Equipo de desarrollo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Nombre de estudiante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FM SERVICIOS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238327" y="3058616"/>
            <a:ext cx="360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1"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empresa FM SERVICIOS actualmente se encuentra gestionando su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papel provocando demoras, errores de registro y baja trazabilidad. Esto ocasiona que no exista una vista unificada para monitorear documentos y gestionar solicitudes de clientes.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1"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propuesta es implementar una plataforma web centralizada con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usuario y admin para gestionar clientes,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órdenes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monitoreo de documentos en tiempo real, automatizar cotizaciones, e integrar un checkout de pagos.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0" y="138430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4"/>
          <p:cNvSpPr txBox="1"/>
          <p:nvPr/>
        </p:nvSpPr>
        <p:spPr>
          <a:xfrm>
            <a:off x="1" y="40824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Desarrollar e implementar un sistema de </a:t>
            </a:r>
            <a:r>
              <a:rPr lang="es-CL" sz="1800">
                <a:solidFill>
                  <a:schemeClr val="dk1"/>
                </a:solidFill>
              </a:rPr>
              <a:t>automatización que optimice la</a:t>
            </a:r>
            <a:r>
              <a:rPr lang="es-CL" sz="1800">
                <a:solidFill>
                  <a:schemeClr val="dk1"/>
                </a:solidFill>
              </a:rPr>
              <a:t> gestión interna de FM SERVICIOS, incluyendo la </a:t>
            </a:r>
            <a:r>
              <a:rPr lang="es-CL" sz="1800">
                <a:solidFill>
                  <a:schemeClr val="dk1"/>
                </a:solidFill>
              </a:rPr>
              <a:t>administración</a:t>
            </a:r>
            <a:r>
              <a:rPr lang="es-CL" sz="1800">
                <a:solidFill>
                  <a:schemeClr val="dk1"/>
                </a:solidFill>
              </a:rPr>
              <a:t> de trabajos, la </a:t>
            </a:r>
            <a:r>
              <a:rPr lang="es-CL" sz="1800">
                <a:solidFill>
                  <a:schemeClr val="dk1"/>
                </a:solidFill>
              </a:rPr>
              <a:t>emisión</a:t>
            </a:r>
            <a:r>
              <a:rPr lang="es-CL" sz="1800">
                <a:solidFill>
                  <a:schemeClr val="dk1"/>
                </a:solidFill>
              </a:rPr>
              <a:t> de documentos y el fortalecimiento de la presencia digital mediante una </a:t>
            </a:r>
            <a:r>
              <a:rPr lang="es-CL" sz="1800">
                <a:solidFill>
                  <a:schemeClr val="dk1"/>
                </a:solidFill>
              </a:rPr>
              <a:t>página</a:t>
            </a:r>
            <a:r>
              <a:rPr lang="es-CL" sz="1800">
                <a:solidFill>
                  <a:schemeClr val="dk1"/>
                </a:solidFill>
              </a:rPr>
              <a:t> web.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25" y="4732400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-CL" sz="1500"/>
              <a:t>Diseñar e implementar una base de datos para centralizar la información de la empresa.</a:t>
            </a:r>
            <a:endParaRPr sz="15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-CL" sz="1500"/>
              <a:t>Desarrollar un módulo de gestión de trabajos, mantenciones realizadas y pendientes.</a:t>
            </a:r>
            <a:endParaRPr sz="15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-CL" sz="1500"/>
              <a:t>Crear un sistema de generación y envío de presupuestos.</a:t>
            </a:r>
            <a:endParaRPr sz="15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-CL" sz="1500"/>
              <a:t>Implementar una página web para </a:t>
            </a:r>
            <a:r>
              <a:rPr lang="es-CL" sz="1500"/>
              <a:t>agilización</a:t>
            </a:r>
            <a:r>
              <a:rPr lang="es-CL" sz="1500"/>
              <a:t> y </a:t>
            </a:r>
            <a:r>
              <a:rPr lang="es-CL" sz="1500"/>
              <a:t>automatización</a:t>
            </a:r>
            <a:r>
              <a:rPr lang="es-CL" sz="1500"/>
              <a:t> de cotizaciones de usuarios externos, contacto directo y visualización de trabajos realizados.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b="1"/>
          </a:p>
        </p:txBody>
      </p:sp>
      <p:cxnSp>
        <p:nvCxnSpPr>
          <p:cNvPr id="131" name="Google Shape;131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5"/>
          <p:cNvSpPr txBox="1"/>
          <p:nvPr/>
        </p:nvSpPr>
        <p:spPr>
          <a:xfrm>
            <a:off x="788825" y="2152000"/>
            <a:ext cx="10753800" cy="43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dk1"/>
                </a:solidFill>
              </a:rPr>
              <a:t>Alcances: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Implementar una plataforma web centralizada para gestionar clientes, órdenes de trabajo y documentación asociada.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Digitalizar la generación de presupuestos y facturas, incluyendo su envío por correo electrónico a los clientes.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Desarrollar un módulo administrador para registrar y monitorear mantenciones realizadas y pendientes.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Desarrollar un módulo de usuarios para solicitudes de cotización, contacto directo y visualización de algunos trabajos realizados.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dk1"/>
                </a:solidFill>
              </a:rPr>
              <a:t>Limitaciones del proyecto: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Proyecto desarrollado por 2 estudiantes y dentro de un semestre, por lo que se alcanzará un MVP funcional, no un sistema empresarial completamente maduro.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La integración de pagos se realiza de forma básica, sin incorporar todas las reglas y escenarios avanzados de facturación.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No se contempla la integración con sistemas contables externos ni con el SII las facturas generadas, son de uso interno.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Las medidas de seguridad y pruebas se limitan a buenas prácticas generales, no se realizan pruebas de carga, pentesting ni certificaciones formales.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Algunas mejoras futuras (app móvil, reportes avanzados, ampliación de módulos) quedan fuera del alcance de esta versión del proyecto.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6"/>
          <p:cNvSpPr txBox="1"/>
          <p:nvPr/>
        </p:nvSpPr>
        <p:spPr>
          <a:xfrm>
            <a:off x="631550" y="2561750"/>
            <a:ext cx="109230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Ágil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Plan:</a:t>
            </a: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sprints de 2 semanas (Agosto - Diciembre)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Roles:</a:t>
            </a: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Product Owner, Scrum Master, Equipo de desarrollo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Entregables por etapas:</a:t>
            </a: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MVP web (auth/roles/CRUD/ + BD + CI/CD)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Cotizaciones + monitoreo de documentos + servicios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Pagos sandbox + UAT + documentación y entrega.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1" y="820531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0" name="Google Shape;150;p7"/>
          <p:cNvGraphicFramePr/>
          <p:nvPr/>
        </p:nvGraphicFramePr>
        <p:xfrm>
          <a:off x="428496" y="18372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{AD927907-2FF1-45FC-82A2-9DE062C96DA4}</a:tableStyleId>
              </a:tblPr>
              <a:tblGrid>
                <a:gridCol w="1642400"/>
                <a:gridCol w="652925"/>
                <a:gridCol w="746750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484025"/>
                <a:gridCol w="382850"/>
                <a:gridCol w="382850"/>
                <a:gridCol w="484025"/>
                <a:gridCol w="607500"/>
                <a:gridCol w="382850"/>
              </a:tblGrid>
              <a:tr h="3531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1984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Kickoff y definición de objetivos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Levantamiento de requerimientos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 de requerimientos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del sistema(Arquitectura+ERD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CI/CD inicial (build/lint/test/deploy)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Frontend: vistas usuario (baseline)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Frontend: vista administrador (baseline)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de datos: esquema estable y migraciones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núcleo: autenticación, roles y CRUDs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Monitoreo de documentos - backend(API/storage/permisos)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Monitoreo de documentos - frontend (UI/UX)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Visualización de servicios(Catálogo + detalle)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 u="none" cap="none" strike="noStrike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Pagos</a:t>
                      </a: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integración sandbox (checkout + webhooks)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E2E + seguridad (ZAP baseline)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Observabilidad: logs, metricas y auditoría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UAT por roles + correcciones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 (p95) + hardening pagos/idempotencia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Documentación, manuales y entrega final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0" y="99290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" name="Google Shape;158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9" name="Google Shape;159;p8" title="Diagram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7175" y="2022380"/>
            <a:ext cx="5054216" cy="454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8" title="Untitled diagram-2025-11-21-1211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3791" y="2007205"/>
            <a:ext cx="3099380" cy="4698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5" name="Google Shape;1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1"/>
          </a:p>
        </p:txBody>
      </p:sp>
      <p:cxnSp>
        <p:nvCxnSpPr>
          <p:cNvPr id="168" name="Google Shape;168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p9"/>
          <p:cNvSpPr txBox="1"/>
          <p:nvPr/>
        </p:nvSpPr>
        <p:spPr>
          <a:xfrm>
            <a:off x="1281438" y="2518900"/>
            <a:ext cx="9901500" cy="3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Cliente:</a:t>
            </a:r>
            <a:r>
              <a:rPr lang="es-CL" sz="1700">
                <a:solidFill>
                  <a:schemeClr val="dk1"/>
                </a:solidFill>
              </a:rPr>
              <a:t> almacena datos de los clientes (razón social, contacto, dirección, etc.).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Servicio:</a:t>
            </a:r>
            <a:r>
              <a:rPr lang="es-CL" sz="1700">
                <a:solidFill>
                  <a:schemeClr val="dk1"/>
                </a:solidFill>
              </a:rPr>
              <a:t> registra cada trabajo realizado o solicitado por un cliente.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Mantención:</a:t>
            </a:r>
            <a:r>
              <a:rPr lang="es-CL" sz="1700">
                <a:solidFill>
                  <a:schemeClr val="dk1"/>
                </a:solidFill>
              </a:rPr>
              <a:t> detalla las mantenciones realizadas a equipos o instalaciones específicas.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Documento:</a:t>
            </a:r>
            <a:r>
              <a:rPr lang="es-CL" sz="1700">
                <a:solidFill>
                  <a:schemeClr val="dk1"/>
                </a:solidFill>
              </a:rPr>
              <a:t> guarda referencia a presupuestos, informes u otros archivos ligados a un servicio.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Relaciones principales: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Un Cliente puede tener muchas Órdenes de Trabajo.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Una Orden de Trabajo puede tener varias Mantenciones y varios Documentos asociados.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Cada Usuario registra y actualiza la información en nombre de la empresa.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1"/>
          </a:p>
        </p:txBody>
      </p:sp>
      <p:cxnSp>
        <p:nvCxnSpPr>
          <p:cNvPr id="177" name="Google Shape;177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10"/>
          <p:cNvSpPr txBox="1"/>
          <p:nvPr/>
        </p:nvSpPr>
        <p:spPr>
          <a:xfrm>
            <a:off x="1843938" y="2753775"/>
            <a:ext cx="8776500" cy="22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Lenguaje y framework web:</a:t>
            </a:r>
            <a:r>
              <a:rPr lang="es-CL" sz="1500">
                <a:solidFill>
                  <a:schemeClr val="dk1"/>
                </a:solidFill>
              </a:rPr>
              <a:t> Python con Django para el desarrollo del back-end.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Base de datos:</a:t>
            </a:r>
            <a:r>
              <a:rPr lang="es-CL" sz="1500">
                <a:solidFill>
                  <a:schemeClr val="dk1"/>
                </a:solidFill>
              </a:rPr>
              <a:t> SQLite (cambio desde PostgreSQL para facilitar pruebas y desarrollo local).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Front-end:</a:t>
            </a:r>
            <a:r>
              <a:rPr lang="es-CL" sz="1500">
                <a:solidFill>
                  <a:schemeClr val="dk1"/>
                </a:solidFill>
              </a:rPr>
              <a:t> HTML, CSS y JavaScript (con uso de componentes reutilizables).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Control de versiones:</a:t>
            </a:r>
            <a:r>
              <a:rPr lang="es-CL" sz="1500">
                <a:solidFill>
                  <a:schemeClr val="dk1"/>
                </a:solidFill>
              </a:rPr>
              <a:t> Git y repositorio en GitHub.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Herramientas de desarrollo:</a:t>
            </a:r>
            <a:r>
              <a:rPr lang="es-CL" sz="1500">
                <a:solidFill>
                  <a:schemeClr val="dk1"/>
                </a:solidFill>
              </a:rPr>
              <a:t> Visual Studio Code.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Servicios en la nube:</a:t>
            </a:r>
            <a:r>
              <a:rPr lang="es-CL" sz="1500">
                <a:solidFill>
                  <a:schemeClr val="dk1"/>
                </a:solidFill>
              </a:rPr>
              <a:t> AWS para almacenamiento de documentos.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3" name="Google Shape;1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 txBox="1"/>
          <p:nvPr/>
        </p:nvSpPr>
        <p:spPr>
          <a:xfrm>
            <a:off x="127301" y="832017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1" title="2025-11-21 02-01-41.mk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7013" y="1759917"/>
            <a:ext cx="8137972" cy="4582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0" name="Google Shape;1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1"/>
          </a:p>
        </p:txBody>
      </p:sp>
      <p:sp>
        <p:nvSpPr>
          <p:cNvPr id="192" name="Google Shape;192;p12"/>
          <p:cNvSpPr txBox="1"/>
          <p:nvPr/>
        </p:nvSpPr>
        <p:spPr>
          <a:xfrm>
            <a:off x="1300653" y="2694725"/>
            <a:ext cx="10083300" cy="3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CL" sz="2000">
                <a:solidFill>
                  <a:schemeClr val="dk1"/>
                </a:solidFill>
              </a:rPr>
              <a:t>Se implementó una plataforma web funcional para gestionar los servicios de la empresa.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CL" sz="2000">
                <a:solidFill>
                  <a:schemeClr val="dk1"/>
                </a:solidFill>
              </a:rPr>
              <a:t>La información de clientes, trabajos y documentos es centralizada en una sola herramienta.</a:t>
            </a:r>
            <a:endParaRPr sz="19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CL" sz="2000">
                <a:solidFill>
                  <a:schemeClr val="dk1"/>
                </a:solidFill>
              </a:rPr>
              <a:t>Se redujo la dependencia del papel y de planillas dispersas.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CL" sz="2000">
                <a:solidFill>
                  <a:schemeClr val="dk1"/>
                </a:solidFill>
              </a:rPr>
              <a:t>Se estableció una base técnica para futuras integraciones con la nube y sistemas contables.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CL" sz="2000">
                <a:solidFill>
                  <a:schemeClr val="dk1"/>
                </a:solidFill>
              </a:rPr>
              <a:t>El proyecto permitió aplicar en un caso real los conocimientos de desarrollo, bases de datos y gestión ágil.</a:t>
            </a:r>
            <a:endParaRPr sz="29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7" name="Google Shape;1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3"/>
          <p:cNvSpPr txBox="1"/>
          <p:nvPr/>
        </p:nvSpPr>
        <p:spPr>
          <a:xfrm>
            <a:off x="1" y="146262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1"/>
          </a:p>
        </p:txBody>
      </p:sp>
      <p:sp>
        <p:nvSpPr>
          <p:cNvPr id="199" name="Google Shape;199;p13"/>
          <p:cNvSpPr txBox="1"/>
          <p:nvPr/>
        </p:nvSpPr>
        <p:spPr>
          <a:xfrm>
            <a:off x="1505700" y="2701850"/>
            <a:ext cx="91806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-CL" sz="2300">
                <a:solidFill>
                  <a:schemeClr val="dk1"/>
                </a:solidFill>
              </a:rPr>
              <a:t>Problemas con PostgreSQL durante el desarrollo y pruebas, que obligaron a cambiar a SQLite.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-CL" sz="2300">
                <a:solidFill>
                  <a:schemeClr val="dk1"/>
                </a:solidFill>
              </a:rPr>
              <a:t>Ajustes en el plan de trabajo por la carga académica y tiempos reducidos.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-CL" sz="2300">
                <a:solidFill>
                  <a:schemeClr val="dk1"/>
                </a:solidFill>
              </a:rPr>
              <a:t>Dificultades iniciales para diseñar el modelo de datos que cubriera todos los casos de uso.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-CL" sz="2300">
                <a:solidFill>
                  <a:schemeClr val="dk1"/>
                </a:solidFill>
              </a:rPr>
              <a:t>Retrasos en la automatización de cotizaciones y en la subida de documentos a la nube.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4" name="Google Shape;2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1"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