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gdnLZo9SBwJTJWCqnPfWb4hfS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Contexto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957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>
                <a:solidFill>
                  <a:srgbClr val="000000"/>
                </a:solidFill>
              </a:rPr>
              <a:t>El proyecto surge ante la necesidad de digitalizar y optimizar los procesos asociados a servicios técnicos, especialmente la gestión de cotizaciones, visitas, informes y pagos. Actualmente, muchas empresas del rubro operan con métodos manuales: llamadas, correos informales, mensajes por WhatsApp y registros dispersos, lo que genera retrasos, errores y mala comunicación entre clientes, técnicos y administradores.</a:t>
            </a:r>
            <a:endParaRPr sz="2400">
              <a:solidFill>
                <a:srgbClr val="000000"/>
              </a:solidFill>
            </a:endParaRPr>
          </a:p>
          <a:p>
            <a:pPr indent="-36957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>
                <a:solidFill>
                  <a:srgbClr val="000000"/>
                </a:solidFill>
              </a:rPr>
              <a:t>La plataforma desarrollada busca centralizar todas estas etapas en un único sistema web accesible para todos los actores, permitiendo un flujo eficiente, trazable y transparente.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Problema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Los sistemas actuales de gestión de servicios técnicos presentan múltiples dificultades: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No existe trazabilidad clara de una cotización a lo largo del proceso.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Los tiempos de respuesta son lentos, debido a revisión manual y comunicación informal.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Los técnicos no tienen herramientas digitales para registrar informes o insumos utilizados.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Los clientes no cuentan con claridad del estado de su servicio, generando dudas e insatisfacción.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Los pagos y boletas no están automatizados, lo que complica la gestión contable y operativa.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Estas fallas impactan directamente la calidad del servicio, los tiempos de atención y la percepción del cliente.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Objetivo General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una plataforma web integral que permita gestionar de manera digital y automatizada el ciclo completo de un servicio técnico: cotización, revisión, asignación de técnicos, informe, insumos, pagos y envío de boleta.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busca reducir tiempos, evitar errores y mejorar la comunicación entre todas las partes.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Objetivos Específicos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Automatizar las notificaciones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generadas en cada cambio de estado (revisión, aceptación, rechazo, boleta).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40005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Facilitar la asignación de técnicos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permitiendo a un administrador definir fecha, hora y responsable del servicio.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40005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Registrar informes técnicos detallados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permitiendo incluir diagnóstico, trabajo realizado y evidencia.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40005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Incorporar insumos utilizados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lo cual actualiza automáticamente el costo final del servicio.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40005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Generar pagos y boletas desde el sistema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asegurando trazabilidad y registro contable eficiente.</a:t>
            </a:r>
            <a:endParaRPr sz="2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Startup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7791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La plataforma se plantea como un producto mínimo viable para una Startup orientada a la digitalización del rubro de servicios técnicos. Su propuesta de valor se centra en: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Rapidez: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Procesos que antes tomaban horas o días, ahora se gestionan en minutos.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Trazabilidad: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Cada acción queda registrada en el sistema.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Integración: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Técnicos, clientes y administradores trabajan dentro del mismo ecosistema digital.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Escalabilidad: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El sistema puede extenderse a múltiples empresas, rubros y servicios.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Este enfoque permite comercializar la plataforma como un servicio </a:t>
            </a:r>
            <a:endParaRPr sz="3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Diagrama Base de Datos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El modelo base incluye las principales entidades que permiten gestionar el ciclo completo: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Usuario: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Cliente, administrador o técnico.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Cotización: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Documenta la solicitud inicial y su estado.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VisitaServicio: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Registra la fecha, hora y técnico asignado.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InformeServicio: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Resume el trabajo realizado durante la visita.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InsumoServicio: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Lista los materiales utilizados y su costo.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Pago: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Respalda las transacciones realizadas.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Notificación: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Guarda información sobre correos enviados al cliente.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Este modelo garantiza relaciones consistentes y una estructura robusta.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Cuadro Económico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5615">
                <a:latin typeface="Arial"/>
                <a:ea typeface="Arial"/>
                <a:cs typeface="Arial"/>
                <a:sym typeface="Arial"/>
              </a:rPr>
              <a:t>Para evaluar la viabilidad del proyecto se consideran:</a:t>
            </a:r>
            <a:endParaRPr sz="56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5615">
                <a:latin typeface="Arial"/>
                <a:ea typeface="Arial"/>
                <a:cs typeface="Arial"/>
                <a:sym typeface="Arial"/>
              </a:rPr>
              <a:t>Costos:</a:t>
            </a:r>
            <a:endParaRPr b="1" sz="5615">
              <a:latin typeface="Arial"/>
              <a:ea typeface="Arial"/>
              <a:cs typeface="Arial"/>
              <a:sym typeface="Arial"/>
            </a:endParaRPr>
          </a:p>
          <a:p>
            <a:pPr indent="-31774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5615">
                <a:latin typeface="Arial"/>
                <a:ea typeface="Arial"/>
                <a:cs typeface="Arial"/>
                <a:sym typeface="Arial"/>
              </a:rPr>
              <a:t>Desarrollo:</a:t>
            </a:r>
            <a:r>
              <a:rPr lang="en-US" sz="5615">
                <a:latin typeface="Arial"/>
                <a:ea typeface="Arial"/>
                <a:cs typeface="Arial"/>
                <a:sym typeface="Arial"/>
              </a:rPr>
              <a:t> Horas de programación, base de datos, interfaz, pruebas.</a:t>
            </a:r>
            <a:br>
              <a:rPr lang="en-US" sz="5615">
                <a:latin typeface="Arial"/>
                <a:ea typeface="Arial"/>
                <a:cs typeface="Arial"/>
                <a:sym typeface="Arial"/>
              </a:rPr>
            </a:br>
            <a:endParaRPr sz="5615">
              <a:latin typeface="Arial"/>
              <a:ea typeface="Arial"/>
              <a:cs typeface="Arial"/>
              <a:sym typeface="Arial"/>
            </a:endParaRPr>
          </a:p>
          <a:p>
            <a:pPr indent="-3177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5615">
                <a:latin typeface="Arial"/>
                <a:ea typeface="Arial"/>
                <a:cs typeface="Arial"/>
                <a:sym typeface="Arial"/>
              </a:rPr>
              <a:t>Infraestructura:</a:t>
            </a:r>
            <a:r>
              <a:rPr lang="en-US" sz="5615">
                <a:latin typeface="Arial"/>
                <a:ea typeface="Arial"/>
                <a:cs typeface="Arial"/>
                <a:sym typeface="Arial"/>
              </a:rPr>
              <a:t> Hosting, almacenamiento, dominios, servicios externos (SMTP, pago).</a:t>
            </a:r>
            <a:br>
              <a:rPr lang="en-US" sz="5615">
                <a:latin typeface="Arial"/>
                <a:ea typeface="Arial"/>
                <a:cs typeface="Arial"/>
                <a:sym typeface="Arial"/>
              </a:rPr>
            </a:br>
            <a:endParaRPr sz="5615">
              <a:latin typeface="Arial"/>
              <a:ea typeface="Arial"/>
              <a:cs typeface="Arial"/>
              <a:sym typeface="Arial"/>
            </a:endParaRPr>
          </a:p>
          <a:p>
            <a:pPr indent="-3177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5615">
                <a:latin typeface="Arial"/>
                <a:ea typeface="Arial"/>
                <a:cs typeface="Arial"/>
                <a:sym typeface="Arial"/>
              </a:rPr>
              <a:t>Mantenimiento:</a:t>
            </a:r>
            <a:r>
              <a:rPr lang="en-US" sz="5615">
                <a:latin typeface="Arial"/>
                <a:ea typeface="Arial"/>
                <a:cs typeface="Arial"/>
                <a:sym typeface="Arial"/>
              </a:rPr>
              <a:t> Actualizaciones, soporte, mejoras.</a:t>
            </a:r>
            <a:br>
              <a:rPr lang="en-US" sz="5615">
                <a:latin typeface="Arial"/>
                <a:ea typeface="Arial"/>
                <a:cs typeface="Arial"/>
                <a:sym typeface="Arial"/>
              </a:rPr>
            </a:br>
            <a:endParaRPr sz="56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5615">
                <a:latin typeface="Arial"/>
                <a:ea typeface="Arial"/>
                <a:cs typeface="Arial"/>
                <a:sym typeface="Arial"/>
              </a:rPr>
              <a:t>Ingresos estimados:</a:t>
            </a:r>
            <a:endParaRPr b="1" sz="5615">
              <a:latin typeface="Arial"/>
              <a:ea typeface="Arial"/>
              <a:cs typeface="Arial"/>
              <a:sym typeface="Arial"/>
            </a:endParaRPr>
          </a:p>
          <a:p>
            <a:pPr indent="-31774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5615">
                <a:latin typeface="Arial"/>
                <a:ea typeface="Arial"/>
                <a:cs typeface="Arial"/>
                <a:sym typeface="Arial"/>
              </a:rPr>
              <a:t>Venta del sistema a empresas del rubro.</a:t>
            </a:r>
            <a:br>
              <a:rPr lang="en-US" sz="5615">
                <a:latin typeface="Arial"/>
                <a:ea typeface="Arial"/>
                <a:cs typeface="Arial"/>
                <a:sym typeface="Arial"/>
              </a:rPr>
            </a:br>
            <a:endParaRPr sz="5615">
              <a:latin typeface="Arial"/>
              <a:ea typeface="Arial"/>
              <a:cs typeface="Arial"/>
              <a:sym typeface="Arial"/>
            </a:endParaRPr>
          </a:p>
          <a:p>
            <a:pPr indent="-3177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615">
                <a:latin typeface="Arial"/>
                <a:ea typeface="Arial"/>
                <a:cs typeface="Arial"/>
                <a:sym typeface="Arial"/>
              </a:rPr>
              <a:t>Suscripciones mensuales por uso.</a:t>
            </a:r>
            <a:br>
              <a:rPr lang="en-US" sz="5615">
                <a:latin typeface="Arial"/>
                <a:ea typeface="Arial"/>
                <a:cs typeface="Arial"/>
                <a:sym typeface="Arial"/>
              </a:rPr>
            </a:br>
            <a:endParaRPr sz="5615">
              <a:latin typeface="Arial"/>
              <a:ea typeface="Arial"/>
              <a:cs typeface="Arial"/>
              <a:sym typeface="Arial"/>
            </a:endParaRPr>
          </a:p>
          <a:p>
            <a:pPr indent="-3177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615">
                <a:latin typeface="Arial"/>
                <a:ea typeface="Arial"/>
                <a:cs typeface="Arial"/>
                <a:sym typeface="Arial"/>
              </a:rPr>
              <a:t>Comisiones por transacciones.</a:t>
            </a:r>
            <a:br>
              <a:rPr lang="en-US" sz="5615">
                <a:latin typeface="Arial"/>
                <a:ea typeface="Arial"/>
                <a:cs typeface="Arial"/>
                <a:sym typeface="Arial"/>
              </a:rPr>
            </a:br>
            <a:endParaRPr sz="56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5615">
                <a:latin typeface="Arial"/>
                <a:ea typeface="Arial"/>
                <a:cs typeface="Arial"/>
                <a:sym typeface="Arial"/>
              </a:rPr>
              <a:t>Proyección:</a:t>
            </a:r>
            <a:endParaRPr b="1" sz="56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5615">
                <a:latin typeface="Arial"/>
                <a:ea typeface="Arial"/>
                <a:cs typeface="Arial"/>
                <a:sym typeface="Arial"/>
              </a:rPr>
              <a:t>Con crecimiento progresivo, el sistema puede generar ingresos sostenidos y cubrir costos operacionales.</a:t>
            </a:r>
            <a:endParaRPr sz="5615"/>
          </a:p>
          <a:p>
            <a:pPr indent="-228600" lvl="0" marL="3429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Cuadro de Riesgos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559425" y="15917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Los riesgos principales del proyecto incluyen: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Fallas técnicas en la pasarela de pago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que podrían detener el flujo final.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Errores en el envío de correos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afectando la comunicación con el cliente.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Baja adopción inicial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debido a resistencia al cambio.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El análisis incluye impacto, probabilidad y mitigación.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4773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Metodología Utilizada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El desarrollo se realizó mediante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metodología ágil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, utilizando Scrum: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Sprints definidos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con planificación, revisión y retrospectivas.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Backlogs priorizados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, basados en valor entregado al usuario.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Modelo arquitectónico 4+1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, documentado y aplicado para diseñar el sistema.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Incrementos funcionales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, permitiendo mostrar avances en cada entrega.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Esto garantizó orden, comunicación y avances claros.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Demo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Flujo mostrado en la demostración: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1. Registro del cliente.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2. Creación de la cotización.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3. Revisión del administrador.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4. Asignación del técnico.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5. Registro de informe e insumos.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6. Pago confirmado y boleta entregada.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000000"/>
                </a:solidFill>
              </a:rPr>
              <a:t>Conclusiones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5831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t/>
            </a:r>
            <a:endParaRPr sz="2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desarrollado:</a:t>
            </a:r>
            <a:endParaRPr sz="20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Digitaliza y automatiza completamente el proceso de servicios técnicos.</a:t>
            </a:r>
            <a:b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Char char="●"/>
            </a:pPr>
            <a: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significativamente los tiempos de respuesta y los errores manuales.</a:t>
            </a:r>
            <a:b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Char char="●"/>
            </a:pPr>
            <a: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la comunicación entre cliente, técnico y administración.</a:t>
            </a:r>
            <a:b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Char char="●"/>
            </a:pPr>
            <a: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escalar a nuevos módulos, empresas y funcionalidades.</a:t>
            </a:r>
            <a:b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US" sz="20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 una solución sólida y aplicable en el mundo real.</a:t>
            </a:r>
            <a:endParaRPr sz="20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