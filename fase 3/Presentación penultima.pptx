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dfTyLTqX8rGBbVJ/QEkD+qzpp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597F0D4-A220-4A17-8709-ACDC531B56E6}">
  <a:tblStyle styleId="{0597F0D4-A220-4A17-8709-ACDC531B56E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b="1"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FM SERVICIOS</a:t>
            </a:r>
            <a:r>
              <a:rPr b="1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1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244950" y="2545730"/>
            <a:ext cx="7668608" cy="4312268"/>
            <a:chOff x="0" y="0"/>
            <a:chExt cx="7633494" cy="4350553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José Bello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Product Owner - Scrum Master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Luis Pérez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Developer/Equipo de desarrollo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Nombre de estudiante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FM SERVICIOS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238327" y="3058616"/>
            <a:ext cx="3609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6" name="Google Shape;10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“FM SERVICIOS”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0" y="113084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" name="Google Shape;110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b="1"/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Descripción:</a:t>
            </a:r>
            <a:b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empresa FM SERVICIOS actualmente se encuentra gestionando su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documentación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papel provocando demoras, errores de registro y baja trazabilidad. Esto ocasiona que no exista una vista unificada para monitorear documentos y gestionar solicitudes de clientes.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b="1"/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propuesta es implementar una plataforma web centralizada con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usuario y admin para gestionar clientes,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órdenes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monitoreo de documentos en tiempo real, automatizar cotizaciones, e integrar un checkout de pagos.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7" name="Google Shape;11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“FM SERVICIOS”</a:t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0" y="1384304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1" name="Google Shape;121;p4"/>
          <p:cNvSpPr txBox="1"/>
          <p:nvPr/>
        </p:nvSpPr>
        <p:spPr>
          <a:xfrm>
            <a:off x="1" y="408244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</a:rPr>
              <a:t>Desarrollar e implementar un sistema de </a:t>
            </a:r>
            <a:r>
              <a:rPr lang="es-CL" sz="1800">
                <a:solidFill>
                  <a:schemeClr val="dk1"/>
                </a:solidFill>
              </a:rPr>
              <a:t>automatización que optimice la</a:t>
            </a:r>
            <a:r>
              <a:rPr lang="es-CL" sz="1800">
                <a:solidFill>
                  <a:schemeClr val="dk1"/>
                </a:solidFill>
              </a:rPr>
              <a:t> gestión interna de FM SERVICIOS, incluyendo la </a:t>
            </a:r>
            <a:r>
              <a:rPr lang="es-CL" sz="1800">
                <a:solidFill>
                  <a:schemeClr val="dk1"/>
                </a:solidFill>
              </a:rPr>
              <a:t>administración</a:t>
            </a:r>
            <a:r>
              <a:rPr lang="es-CL" sz="1800">
                <a:solidFill>
                  <a:schemeClr val="dk1"/>
                </a:solidFill>
              </a:rPr>
              <a:t> de trabajos, la </a:t>
            </a:r>
            <a:r>
              <a:rPr lang="es-CL" sz="1800">
                <a:solidFill>
                  <a:schemeClr val="dk1"/>
                </a:solidFill>
              </a:rPr>
              <a:t>emisión</a:t>
            </a:r>
            <a:r>
              <a:rPr lang="es-CL" sz="1800">
                <a:solidFill>
                  <a:schemeClr val="dk1"/>
                </a:solidFill>
              </a:rPr>
              <a:t> de documentos y el fortalecimiento de la presencia digital mediante una </a:t>
            </a:r>
            <a:r>
              <a:rPr lang="es-CL" sz="1800">
                <a:solidFill>
                  <a:schemeClr val="dk1"/>
                </a:solidFill>
              </a:rPr>
              <a:t>página</a:t>
            </a:r>
            <a:r>
              <a:rPr lang="es-CL" sz="1800">
                <a:solidFill>
                  <a:schemeClr val="dk1"/>
                </a:solidFill>
              </a:rPr>
              <a:t> web.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14525" y="4732400"/>
            <a:ext cx="10962900" cy="15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238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s-CL" sz="1500"/>
              <a:t>Diseñar e implementar una base de datos para centralizar la información de la empresa.</a:t>
            </a:r>
            <a:endParaRPr sz="1500"/>
          </a:p>
          <a:p>
            <a:pPr indent="-3238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s-CL" sz="1500"/>
              <a:t>Desarrollar un módulo de gestión de trabajos, mantenciones realizadas y pendientes.</a:t>
            </a:r>
            <a:endParaRPr sz="1500"/>
          </a:p>
          <a:p>
            <a:pPr indent="-3238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s-CL" sz="1500"/>
              <a:t>Crear un sistema de generación y envío de presupuestos.</a:t>
            </a:r>
            <a:endParaRPr sz="1500"/>
          </a:p>
          <a:p>
            <a:pPr indent="-3238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s-CL" sz="1500"/>
              <a:t>Implementar una página web para </a:t>
            </a:r>
            <a:r>
              <a:rPr lang="es-CL" sz="1500"/>
              <a:t>agilización</a:t>
            </a:r>
            <a:r>
              <a:rPr lang="es-CL" sz="1500"/>
              <a:t> y </a:t>
            </a:r>
            <a:r>
              <a:rPr lang="es-CL" sz="1500"/>
              <a:t>automatización</a:t>
            </a:r>
            <a:r>
              <a:rPr lang="es-CL" sz="1500"/>
              <a:t> de cotizaciones de usuarios externos, contacto directo y visualización de trabajos realizados.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8" name="Google Shape;12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“FM SERVICIOS”</a:t>
            </a:r>
            <a:endParaRPr/>
          </a:p>
        </p:txBody>
      </p:sp>
      <p:sp>
        <p:nvSpPr>
          <p:cNvPr id="130" name="Google Shape;130;p5"/>
          <p:cNvSpPr txBox="1"/>
          <p:nvPr/>
        </p:nvSpPr>
        <p:spPr>
          <a:xfrm>
            <a:off x="0" y="14326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 b="1"/>
          </a:p>
        </p:txBody>
      </p:sp>
      <p:cxnSp>
        <p:nvCxnSpPr>
          <p:cNvPr id="131" name="Google Shape;131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5"/>
          <p:cNvSpPr txBox="1"/>
          <p:nvPr/>
        </p:nvSpPr>
        <p:spPr>
          <a:xfrm>
            <a:off x="788825" y="2152000"/>
            <a:ext cx="10753800" cy="43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chemeClr val="dk1"/>
                </a:solidFill>
              </a:rPr>
              <a:t>Alcances: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Implementar una plataforma web centralizada para gestionar clientes, órdenes de trabajo y documentación asociada.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Digitalizar la generación de presupuestos y facturas, incluyendo su envío por correo electrónico a los clientes.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Desarrollar un módulo administrador para registrar y monitorear mantenciones realizadas y pendientes.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Desarrollar un módulo de usuarios para solicitudes de cotización, contacto directo y visualización de algunos trabajos realizados.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chemeClr val="dk1"/>
                </a:solidFill>
              </a:rPr>
              <a:t>Limitaciones del proyecto: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Proyecto desarrollado por 2 estudiantes y dentro de un semestre, por lo que se alcanzará un MVP funcional, no un sistema empresarial completamente maduro.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La integración de pagos se realiza de forma básica, sin incorporar todas las reglas y escenarios avanzados de facturación.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No se contempla la integración con sistemas contables externos ni con el SII las facturas generadas, son de uso interno.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Las medidas de seguridad y pruebas se limitan a buenas prácticas generales, no se realizan pruebas de carga, pentesting ni certificaciones formales.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L" sz="1500">
                <a:solidFill>
                  <a:schemeClr val="dk1"/>
                </a:solidFill>
              </a:rPr>
              <a:t>Algunas mejoras futuras (app móvil, reportes avanzados, ampliación de módulos) quedan fuera del alcance de esta versión del proyecto.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7" name="Google Shape;1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“FM SERVICIOS”</a:t>
            </a:r>
            <a:endParaRPr/>
          </a:p>
        </p:txBody>
      </p:sp>
      <p:sp>
        <p:nvSpPr>
          <p:cNvPr id="139" name="Google Shape;139;p6"/>
          <p:cNvSpPr txBox="1"/>
          <p:nvPr/>
        </p:nvSpPr>
        <p:spPr>
          <a:xfrm>
            <a:off x="0" y="14326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1" name="Google Shape;141;p6"/>
          <p:cNvSpPr txBox="1"/>
          <p:nvPr/>
        </p:nvSpPr>
        <p:spPr>
          <a:xfrm>
            <a:off x="631550" y="2561750"/>
            <a:ext cx="109230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Ágil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Plan:</a:t>
            </a: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9 sprints de 2 semanas (Agosto - Diciembre)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Roles:</a:t>
            </a: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Product Owner, Scrum Master, Equipo de desarrollo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Entregables por etapas:</a:t>
            </a: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○"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MVP web (auth/roles/CRUD/ + BD + CI/CD)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○"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Cotizaciones + monitoreo de documentos + servicios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○"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Pagos sandbox + UAT + documentación y entrega.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“FM SERVICIOS”</a:t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1" y="820531"/>
            <a:ext cx="1219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50" name="Google Shape;150;p7"/>
          <p:cNvGraphicFramePr/>
          <p:nvPr/>
        </p:nvGraphicFramePr>
        <p:xfrm>
          <a:off x="428496" y="18372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{0597F0D4-A220-4A17-8709-ACDC531B56E6}</a:tableStyleId>
              </a:tblPr>
              <a:tblGrid>
                <a:gridCol w="1642400"/>
                <a:gridCol w="652925"/>
                <a:gridCol w="746750"/>
                <a:gridCol w="484950"/>
                <a:gridCol w="484950"/>
                <a:gridCol w="482175"/>
                <a:gridCol w="482175"/>
                <a:gridCol w="482175"/>
                <a:gridCol w="482175"/>
                <a:gridCol w="482175"/>
                <a:gridCol w="482175"/>
                <a:gridCol w="482175"/>
                <a:gridCol w="484025"/>
                <a:gridCol w="484025"/>
                <a:gridCol w="484025"/>
                <a:gridCol w="484025"/>
                <a:gridCol w="382850"/>
                <a:gridCol w="382850"/>
                <a:gridCol w="484025"/>
                <a:gridCol w="607500"/>
                <a:gridCol w="382850"/>
              </a:tblGrid>
              <a:tr h="353175">
                <a:tc row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 hMerge="1"/>
                <a:tc hMerge="1"/>
                <a:tc hMerge="1"/>
                <a:tc gridSpan="1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 hMerge="1"/>
                <a:tc hMerge="1"/>
                <a:tc hMerge="1"/>
              </a:tr>
              <a:tr h="1984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Kickoff y definición de objetivos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Levantamiento de requerimientos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Análisis de requerimientos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Diseño del sistema(Arquitectura+ERD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CI/CD inicial (build/lint/test/deploy)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Frontend: vistas usuario (baseline)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Frontend: vista administrador (baseline)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de datos: esquema estable y migraciones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Backend núcleo: autenticación, roles y CRUDs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Monitoreo de documentos - backend(API/storage/permisos)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Monitoreo de documentos - frontend (UI/UX)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Visualización de servicios(Catálogo + detalle)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3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 u="none" cap="none" strike="noStrike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Pagos</a:t>
                      </a: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integración sandbox (checkout + webhooks)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Pruebas E2E + seguridad (ZAP baseline)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Observabilidad: logs, metricas y auditoría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UAT por roles + correcciones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Performance (p95) + hardening pagos/idempotencia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7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Documentación, manuales y entrega final</a:t>
                      </a:r>
                      <a:endParaRPr i="1" sz="7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1" sz="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b="1" sz="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5" name="Google Shape;15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“FM SERVICIOS”</a:t>
            </a:r>
            <a:endParaRPr/>
          </a:p>
        </p:txBody>
      </p:sp>
      <p:sp>
        <p:nvSpPr>
          <p:cNvPr id="157" name="Google Shape;157;p8"/>
          <p:cNvSpPr txBox="1"/>
          <p:nvPr/>
        </p:nvSpPr>
        <p:spPr>
          <a:xfrm>
            <a:off x="0" y="99290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8" name="Google Shape;158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9" name="Google Shape;159;p8" title="Diagram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5075" y="2090555"/>
            <a:ext cx="5054216" cy="4544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4" name="Google Shape;16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“FM SERVICIOS”</a:t>
            </a:r>
            <a:endParaRPr/>
          </a:p>
        </p:txBody>
      </p:sp>
      <p:sp>
        <p:nvSpPr>
          <p:cNvPr id="166" name="Google Shape;166;p9"/>
          <p:cNvSpPr txBox="1"/>
          <p:nvPr/>
        </p:nvSpPr>
        <p:spPr>
          <a:xfrm>
            <a:off x="0" y="14326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b="1"/>
          </a:p>
        </p:txBody>
      </p:sp>
      <p:cxnSp>
        <p:nvCxnSpPr>
          <p:cNvPr id="167" name="Google Shape;167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8" name="Google Shape;168;p9"/>
          <p:cNvSpPr txBox="1"/>
          <p:nvPr/>
        </p:nvSpPr>
        <p:spPr>
          <a:xfrm>
            <a:off x="1281438" y="2518900"/>
            <a:ext cx="9901500" cy="3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 sz="1700">
                <a:solidFill>
                  <a:schemeClr val="dk1"/>
                </a:solidFill>
              </a:rPr>
              <a:t>Cliente:</a:t>
            </a:r>
            <a:r>
              <a:rPr lang="es-CL" sz="1700">
                <a:solidFill>
                  <a:schemeClr val="dk1"/>
                </a:solidFill>
              </a:rPr>
              <a:t> almacena datos de los clientes (razón social, contacto, dirección, etc.).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 sz="1700">
                <a:solidFill>
                  <a:schemeClr val="dk1"/>
                </a:solidFill>
              </a:rPr>
              <a:t>Servicio:</a:t>
            </a:r>
            <a:r>
              <a:rPr lang="es-CL" sz="1700">
                <a:solidFill>
                  <a:schemeClr val="dk1"/>
                </a:solidFill>
              </a:rPr>
              <a:t> registra cada trabajo realizado o solicitado por un cliente.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 sz="1700">
                <a:solidFill>
                  <a:schemeClr val="dk1"/>
                </a:solidFill>
              </a:rPr>
              <a:t>Mantención:</a:t>
            </a:r>
            <a:r>
              <a:rPr lang="es-CL" sz="1700">
                <a:solidFill>
                  <a:schemeClr val="dk1"/>
                </a:solidFill>
              </a:rPr>
              <a:t> detalla las mantenciones realizadas a equipos o instalaciones específicas.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 sz="1700">
                <a:solidFill>
                  <a:schemeClr val="dk1"/>
                </a:solidFill>
              </a:rPr>
              <a:t>Documento:</a:t>
            </a:r>
            <a:r>
              <a:rPr lang="es-CL" sz="1700">
                <a:solidFill>
                  <a:schemeClr val="dk1"/>
                </a:solidFill>
              </a:rPr>
              <a:t> guarda referencia a presupuestos, informes u otros archivos ligados a un servicio.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</a:rPr>
              <a:t>Relaciones principales: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Un Cliente puede tener muchas Órdenes de Trabajo.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Una Orden de Trabajo puede tener varias Mantenciones y varios Documentos asociados.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Cada Usuario registra y actualiza la información en nombre de la empresa.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3" name="Google Shape;17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“FM SERVICIOS”</a:t>
            </a:r>
            <a:endParaRPr/>
          </a:p>
        </p:txBody>
      </p:sp>
      <p:sp>
        <p:nvSpPr>
          <p:cNvPr id="175" name="Google Shape;175;p10"/>
          <p:cNvSpPr txBox="1"/>
          <p:nvPr/>
        </p:nvSpPr>
        <p:spPr>
          <a:xfrm>
            <a:off x="0" y="14326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b="1"/>
          </a:p>
        </p:txBody>
      </p:sp>
      <p:cxnSp>
        <p:nvCxnSpPr>
          <p:cNvPr id="176" name="Google Shape;176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7" name="Google Shape;177;p10"/>
          <p:cNvSpPr txBox="1"/>
          <p:nvPr/>
        </p:nvSpPr>
        <p:spPr>
          <a:xfrm>
            <a:off x="1843938" y="2753775"/>
            <a:ext cx="8776500" cy="22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CL" sz="1500">
                <a:solidFill>
                  <a:schemeClr val="dk1"/>
                </a:solidFill>
              </a:rPr>
              <a:t>Lenguaje y framework web:</a:t>
            </a:r>
            <a:r>
              <a:rPr lang="es-CL" sz="1500">
                <a:solidFill>
                  <a:schemeClr val="dk1"/>
                </a:solidFill>
              </a:rPr>
              <a:t> Python con Django para el desarrollo del back-end.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CL" sz="1500">
                <a:solidFill>
                  <a:schemeClr val="dk1"/>
                </a:solidFill>
              </a:rPr>
              <a:t>Base de datos:</a:t>
            </a:r>
            <a:r>
              <a:rPr lang="es-CL" sz="1500">
                <a:solidFill>
                  <a:schemeClr val="dk1"/>
                </a:solidFill>
              </a:rPr>
              <a:t> SQLite (cambio desde PostgreSQL para facilitar pruebas y desarrollo local).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CL" sz="1500">
                <a:solidFill>
                  <a:schemeClr val="dk1"/>
                </a:solidFill>
              </a:rPr>
              <a:t>Front-end:</a:t>
            </a:r>
            <a:r>
              <a:rPr lang="es-CL" sz="1500">
                <a:solidFill>
                  <a:schemeClr val="dk1"/>
                </a:solidFill>
              </a:rPr>
              <a:t> HTML, CSS y JavaScript (con uso de componentes reutilizables).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CL" sz="1500">
                <a:solidFill>
                  <a:schemeClr val="dk1"/>
                </a:solidFill>
              </a:rPr>
              <a:t>Control de versiones:</a:t>
            </a:r>
            <a:r>
              <a:rPr lang="es-CL" sz="1500">
                <a:solidFill>
                  <a:schemeClr val="dk1"/>
                </a:solidFill>
              </a:rPr>
              <a:t> Git y repositorio en GitHub.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CL" sz="1500">
                <a:solidFill>
                  <a:schemeClr val="dk1"/>
                </a:solidFill>
              </a:rPr>
              <a:t>Herramientas de desarrollo:</a:t>
            </a:r>
            <a:r>
              <a:rPr lang="es-CL" sz="1500">
                <a:solidFill>
                  <a:schemeClr val="dk1"/>
                </a:solidFill>
              </a:rPr>
              <a:t> Visual Studio Code.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CL" sz="1500">
                <a:solidFill>
                  <a:schemeClr val="dk1"/>
                </a:solidFill>
              </a:rPr>
              <a:t>Servicios en la nube:</a:t>
            </a:r>
            <a:r>
              <a:rPr lang="es-CL" sz="1500">
                <a:solidFill>
                  <a:schemeClr val="dk1"/>
                </a:solidFill>
              </a:rPr>
              <a:t> AWS para almacenamiento de documentos.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2" name="Google Shape;18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1"/>
          <p:cNvSpPr txBox="1"/>
          <p:nvPr/>
        </p:nvSpPr>
        <p:spPr>
          <a:xfrm>
            <a:off x="127301" y="832017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8" name="Google Shape;18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2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b="1"/>
          </a:p>
        </p:txBody>
      </p:sp>
      <p:sp>
        <p:nvSpPr>
          <p:cNvPr id="190" name="Google Shape;190;p12"/>
          <p:cNvSpPr txBox="1"/>
          <p:nvPr/>
        </p:nvSpPr>
        <p:spPr>
          <a:xfrm>
            <a:off x="1300653" y="2694725"/>
            <a:ext cx="10083300" cy="3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s-CL" sz="2000">
                <a:solidFill>
                  <a:schemeClr val="dk1"/>
                </a:solidFill>
              </a:rPr>
              <a:t>Se implementó una plataforma web funcional para gestionar los servicios de la empresa.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s-CL" sz="2000">
                <a:solidFill>
                  <a:schemeClr val="dk1"/>
                </a:solidFill>
              </a:rPr>
              <a:t>La información de clientes, trabajos y documentos es centralizada en una sola herramienta.</a:t>
            </a:r>
            <a:endParaRPr sz="19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s-CL" sz="2000">
                <a:solidFill>
                  <a:schemeClr val="dk1"/>
                </a:solidFill>
              </a:rPr>
              <a:t>Se redujo la dependencia del papel y de planillas dispersas.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s-CL" sz="2000">
                <a:solidFill>
                  <a:schemeClr val="dk1"/>
                </a:solidFill>
              </a:rPr>
              <a:t>Se estableció una base técnica para futuras integraciones con la nube y sistemas contables.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s-CL" sz="2000">
                <a:solidFill>
                  <a:schemeClr val="dk1"/>
                </a:solidFill>
              </a:rPr>
              <a:t>El proyecto permitió aplicar en un caso real los conocimientos de desarrollo, bases de datos y gestión ágil.</a:t>
            </a:r>
            <a:endParaRPr sz="29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5" name="Google Shape;19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3"/>
          <p:cNvSpPr txBox="1"/>
          <p:nvPr/>
        </p:nvSpPr>
        <p:spPr>
          <a:xfrm>
            <a:off x="1" y="1462623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 b="1"/>
          </a:p>
        </p:txBody>
      </p:sp>
      <p:sp>
        <p:nvSpPr>
          <p:cNvPr id="197" name="Google Shape;197;p13"/>
          <p:cNvSpPr txBox="1"/>
          <p:nvPr/>
        </p:nvSpPr>
        <p:spPr>
          <a:xfrm>
            <a:off x="1505700" y="2701850"/>
            <a:ext cx="9180600" cy="29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s-CL" sz="2300">
                <a:solidFill>
                  <a:schemeClr val="dk1"/>
                </a:solidFill>
              </a:rPr>
              <a:t>Problemas con PostgreSQL durante el desarrollo y pruebas, que obligaron a cambiar a SQLite.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s-CL" sz="2300">
                <a:solidFill>
                  <a:schemeClr val="dk1"/>
                </a:solidFill>
              </a:rPr>
              <a:t>Ajustes en el plan de trabajo por la carga académica y tiempos reducidos.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s-CL" sz="2300">
                <a:solidFill>
                  <a:schemeClr val="dk1"/>
                </a:solidFill>
              </a:rPr>
              <a:t>Dificultades iniciales para diseñar el modelo de datos que cubriera todos los casos de uso.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s-CL" sz="2300">
                <a:solidFill>
                  <a:schemeClr val="dk1"/>
                </a:solidFill>
              </a:rPr>
              <a:t>Retrasos en la automatización de cotizaciones y en la subida de documentos a la nube.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2" name="Google Shape;2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 b="1"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